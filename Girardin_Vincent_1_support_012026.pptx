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embeddedFontLst>
    <p:embeddedFont>
      <p:font typeface="Raleway"/>
      <p:regular r:id="rId28"/>
      <p:bold r:id="rId29"/>
      <p:italic r:id="rId30"/>
      <p:boldItalic r:id="rId31"/>
    </p:embeddedFont>
    <p:embeddedFont>
      <p:font typeface="Lato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aleway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aleway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aleway-boldItalic.fntdata"/><Relationship Id="rId30" Type="http://schemas.openxmlformats.org/officeDocument/2006/relationships/font" Target="fonts/Raleway-italic.fntdata"/><Relationship Id="rId11" Type="http://schemas.openxmlformats.org/officeDocument/2006/relationships/slide" Target="slides/slide6.xml"/><Relationship Id="rId33" Type="http://schemas.openxmlformats.org/officeDocument/2006/relationships/font" Target="fonts/Lato-bold.fntdata"/><Relationship Id="rId10" Type="http://schemas.openxmlformats.org/officeDocument/2006/relationships/slide" Target="slides/slide5.xml"/><Relationship Id="rId32" Type="http://schemas.openxmlformats.org/officeDocument/2006/relationships/font" Target="fonts/Lato-regular.fntdata"/><Relationship Id="rId13" Type="http://schemas.openxmlformats.org/officeDocument/2006/relationships/slide" Target="slides/slide8.xml"/><Relationship Id="rId35" Type="http://schemas.openxmlformats.org/officeDocument/2006/relationships/font" Target="fonts/Lato-boldItalic.fntdata"/><Relationship Id="rId12" Type="http://schemas.openxmlformats.org/officeDocument/2006/relationships/slide" Target="slides/slide7.xml"/><Relationship Id="rId34" Type="http://schemas.openxmlformats.org/officeDocument/2006/relationships/font" Target="fonts/Lato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c8fd8997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c8fd8997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b8a37283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bb8a37283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b8a37283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bb8a37283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chemeClr val="dk1"/>
                </a:solidFill>
              </a:rPr>
              <a:t>Les types de colonnes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chemeClr val="dk1"/>
                </a:solidFill>
              </a:rPr>
              <a:t>Le nombre de colonnes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chemeClr val="dk1"/>
                </a:solidFill>
              </a:rPr>
              <a:t>encodage nécessaire</a:t>
            </a:r>
            <a:endParaRPr b="1"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bc8fd89979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bc8fd89979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c3e79af57c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c3e79af57c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b8a372832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bb8a37283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c3e79af57c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c3e79af57c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c3e79af57c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c3e79af57c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b8a372832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bb8a372832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c8fd89979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bc8fd89979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b8a372832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bb8a372832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c3e79af57c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c3e79af57c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Le SVM avec noyau RBF nous a permis de capter des relations non-linéaires que la Régression Logistique ratait, tout en restant plus stable que le Random Forest sur ce petit dataset."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3e79af57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c3e79af57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bc8fd89979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bc8fd89979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c3e79af57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c3e79af57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c3e79af57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c3e79af57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c3e79af57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c3e79af57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c3e79af57c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c3e79af57c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bc8fd89979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bc8fd8997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On observe un consensus : les heures supplémentaires et le faible revenu sont les deux déclencheurs universels. En revanche, SHAP nous montre que l'âge a un impact nuancé : ce sont surtout les profils très jeunes qui partent."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bc8fd89979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bc8fd89979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1"/>
                </a:solidFill>
              </a:rPr>
              <a:t>Conseil :</a:t>
            </a:r>
            <a:r>
              <a:rPr lang="fr">
                <a:solidFill>
                  <a:schemeClr val="dk1"/>
                </a:solidFill>
              </a:rPr>
              <a:t> Choisis un employé </a:t>
            </a:r>
            <a:r>
              <a:rPr b="1" lang="fr">
                <a:solidFill>
                  <a:schemeClr val="dk1"/>
                </a:solidFill>
              </a:rPr>
              <a:t>"Contre-intuitif"</a:t>
            </a:r>
            <a:r>
              <a:rPr lang="fr">
                <a:solidFill>
                  <a:schemeClr val="dk1"/>
                </a:solidFill>
              </a:rPr>
              <a:t>. Par exemple, un employé qui a un bon salaire mais que le modèle prédit en "Départ". Explique que c'est grâce à la feature importance locale que tu as compris que c'était sa distance domicile-travail qui posait problème. Cela prouve l'utilité de ton outil.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c43b273dd8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c43b273dd8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300">
                <a:solidFill>
                  <a:schemeClr val="dk1"/>
                </a:solidFill>
              </a:rPr>
              <a:t>1. Politique de Rémunération Ciblée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>
                <a:solidFill>
                  <a:schemeClr val="dk1"/>
                </a:solidFill>
              </a:rPr>
              <a:t>Ton modèle a probablement identifié que le </a:t>
            </a:r>
            <a:r>
              <a:rPr b="1" lang="fr">
                <a:solidFill>
                  <a:schemeClr val="dk1"/>
                </a:solidFill>
              </a:rPr>
              <a:t>salaire</a:t>
            </a:r>
            <a:r>
              <a:rPr lang="fr">
                <a:solidFill>
                  <a:schemeClr val="dk1"/>
                </a:solidFill>
              </a:rPr>
              <a:t> et le </a:t>
            </a:r>
            <a:r>
              <a:rPr b="1" lang="fr">
                <a:solidFill>
                  <a:schemeClr val="dk1"/>
                </a:solidFill>
              </a:rPr>
              <a:t>revenu mensuel</a:t>
            </a:r>
            <a:r>
              <a:rPr lang="fr">
                <a:solidFill>
                  <a:schemeClr val="dk1"/>
                </a:solidFill>
              </a:rPr>
              <a:t> sont les facteurs n°1.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fr">
                <a:solidFill>
                  <a:schemeClr val="dk1"/>
                </a:solidFill>
              </a:rPr>
              <a:t>Constat :</a:t>
            </a:r>
            <a:r>
              <a:rPr lang="fr">
                <a:solidFill>
                  <a:schemeClr val="dk1"/>
                </a:solidFill>
              </a:rPr>
              <a:t> L'attrition est maximale chez les employés ayant un salaire inférieur à la médiane du marché pour leur poste.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fr">
                <a:solidFill>
                  <a:schemeClr val="dk1"/>
                </a:solidFill>
              </a:rPr>
              <a:t>Recommandation :</a:t>
            </a:r>
            <a:r>
              <a:rPr lang="fr">
                <a:solidFill>
                  <a:schemeClr val="dk1"/>
                </a:solidFill>
              </a:rPr>
              <a:t> Mettre en place une </a:t>
            </a:r>
            <a:r>
              <a:rPr b="1" lang="fr">
                <a:solidFill>
                  <a:schemeClr val="dk1"/>
                </a:solidFill>
              </a:rPr>
              <a:t>veille concurrentielle annuelle</a:t>
            </a:r>
            <a:r>
              <a:rPr lang="fr">
                <a:solidFill>
                  <a:schemeClr val="dk1"/>
                </a:solidFill>
              </a:rPr>
              <a:t> sur les salaires.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fr">
                <a:solidFill>
                  <a:schemeClr val="dk1"/>
                </a:solidFill>
              </a:rPr>
              <a:t>Action concrète :</a:t>
            </a:r>
            <a:r>
              <a:rPr lang="fr">
                <a:solidFill>
                  <a:schemeClr val="dk1"/>
                </a:solidFill>
              </a:rPr>
              <a:t> Budgéter une enveloppe de "rattrapage salarial" spécifiquement pour les profils à haut risque identifiés par le modèle, plutôt que des augmentations générales diluées.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300">
                <a:solidFill>
                  <a:schemeClr val="dk1"/>
                </a:solidFill>
              </a:rPr>
              <a:t>2. Gestion de la Charge et "Droit à la Déconnexion"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>
                <a:solidFill>
                  <a:schemeClr val="dk1"/>
                </a:solidFill>
              </a:rPr>
              <a:t>Si les </a:t>
            </a:r>
            <a:r>
              <a:rPr b="1" lang="fr">
                <a:solidFill>
                  <a:schemeClr val="dk1"/>
                </a:solidFill>
              </a:rPr>
              <a:t>Heures Supplémentaires</a:t>
            </a:r>
            <a:r>
              <a:rPr lang="fr">
                <a:solidFill>
                  <a:schemeClr val="dk1"/>
                </a:solidFill>
              </a:rPr>
              <a:t> (Overtime) apparaissent en haut de ton Beeswarm Plot 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fr">
                <a:solidFill>
                  <a:schemeClr val="dk1"/>
                </a:solidFill>
              </a:rPr>
              <a:t>Constat :</a:t>
            </a:r>
            <a:r>
              <a:rPr lang="fr">
                <a:solidFill>
                  <a:schemeClr val="dk1"/>
                </a:solidFill>
              </a:rPr>
              <a:t> Faire des heures supplémentaires multiplie par X le risque de départ, peu importe le salaire.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fr">
                <a:solidFill>
                  <a:schemeClr val="dk1"/>
                </a:solidFill>
              </a:rPr>
              <a:t>Recommandation :</a:t>
            </a:r>
            <a:r>
              <a:rPr lang="fr">
                <a:solidFill>
                  <a:schemeClr val="dk1"/>
                </a:solidFill>
              </a:rPr>
              <a:t> Passer d'une culture de la "présence" à une culture du "résultat".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fr">
                <a:solidFill>
                  <a:schemeClr val="dk1"/>
                </a:solidFill>
              </a:rPr>
              <a:t>Action concrète :</a:t>
            </a:r>
            <a:r>
              <a:rPr lang="fr">
                <a:solidFill>
                  <a:schemeClr val="dk1"/>
                </a:solidFill>
              </a:rPr>
              <a:t> Alerter automatiquement les RH lorsqu'un employé dépasse un certain quota d'heures sup sur 3 mois consécutifs pour déclencher un entretien de charge de travail.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300">
                <a:solidFill>
                  <a:schemeClr val="dk1"/>
                </a:solidFill>
              </a:rPr>
              <a:t>3. Parcours de Carrière et "Internal Mobility"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>
                <a:solidFill>
                  <a:schemeClr val="dk1"/>
                </a:solidFill>
              </a:rPr>
              <a:t>L'ancienneté dans le poste sans </a:t>
            </a:r>
            <a:r>
              <a:rPr b="1" lang="fr">
                <a:solidFill>
                  <a:schemeClr val="dk1"/>
                </a:solidFill>
              </a:rPr>
              <a:t>promotion</a:t>
            </a:r>
            <a:r>
              <a:rPr lang="fr">
                <a:solidFill>
                  <a:schemeClr val="dk1"/>
                </a:solidFill>
              </a:rPr>
              <a:t> est souvent un signal faible mais puissant.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fr">
                <a:solidFill>
                  <a:schemeClr val="dk1"/>
                </a:solidFill>
              </a:rPr>
              <a:t>Constat :</a:t>
            </a:r>
            <a:r>
              <a:rPr lang="fr">
                <a:solidFill>
                  <a:schemeClr val="dk1"/>
                </a:solidFill>
              </a:rPr>
              <a:t> Les employés stagnants depuis plus de 3 ans au même poste ont une probabilité de départ qui bondit (visible sur tes graphiques de dépendance).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fr">
                <a:solidFill>
                  <a:schemeClr val="dk1"/>
                </a:solidFill>
              </a:rPr>
              <a:t>Recommandation :</a:t>
            </a:r>
            <a:r>
              <a:rPr lang="fr">
                <a:solidFill>
                  <a:schemeClr val="dk1"/>
                </a:solidFill>
              </a:rPr>
              <a:t> Systématiser les plans de carrière à 24 mois.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fr">
                <a:solidFill>
                  <a:schemeClr val="dk1"/>
                </a:solidFill>
              </a:rPr>
              <a:t>Action concrète :</a:t>
            </a:r>
            <a:r>
              <a:rPr lang="fr">
                <a:solidFill>
                  <a:schemeClr val="dk1"/>
                </a:solidFill>
              </a:rPr>
              <a:t> Créer un programme de "Reskilling" interne pour permettre aux employés qui s'ennuient de changer de département plutôt que de quitter l'entreprise.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300">
                <a:solidFill>
                  <a:schemeClr val="dk1"/>
                </a:solidFill>
              </a:rPr>
              <a:t>4. Amélioration de l'Engagement (Sondages)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>
                <a:solidFill>
                  <a:schemeClr val="dk1"/>
                </a:solidFill>
              </a:rPr>
              <a:t>Ton modèle utilise les scores de </a:t>
            </a:r>
            <a:r>
              <a:rPr b="1" lang="fr">
                <a:solidFill>
                  <a:schemeClr val="dk1"/>
                </a:solidFill>
              </a:rPr>
              <a:t>satisfaction environnementale</a:t>
            </a:r>
            <a:r>
              <a:rPr lang="fr">
                <a:solidFill>
                  <a:schemeClr val="dk1"/>
                </a:solidFill>
              </a:rPr>
              <a:t> et de </a:t>
            </a:r>
            <a:r>
              <a:rPr b="1" lang="fr">
                <a:solidFill>
                  <a:schemeClr val="dk1"/>
                </a:solidFill>
              </a:rPr>
              <a:t>satisfaction au travail</a:t>
            </a:r>
            <a:r>
              <a:rPr lang="fr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fr">
                <a:solidFill>
                  <a:schemeClr val="dk1"/>
                </a:solidFill>
              </a:rPr>
              <a:t>Constat :</a:t>
            </a:r>
            <a:r>
              <a:rPr lang="fr">
                <a:solidFill>
                  <a:schemeClr val="dk1"/>
                </a:solidFill>
              </a:rPr>
              <a:t> Une chute de 1 point dans le sondage de satisfaction est un prédicteur de départ dans les 6 mois.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fr">
                <a:solidFill>
                  <a:schemeClr val="dk1"/>
                </a:solidFill>
              </a:rPr>
              <a:t>Recommandation :</a:t>
            </a:r>
            <a:r>
              <a:rPr lang="fr">
                <a:solidFill>
                  <a:schemeClr val="dk1"/>
                </a:solidFill>
              </a:rPr>
              <a:t> Passer de sondages annuels lourds à des "Pulse Surveys" (micro-sondages mensuels).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fr">
                <a:solidFill>
                  <a:schemeClr val="dk1"/>
                </a:solidFill>
              </a:rPr>
              <a:t>Action concrète :</a:t>
            </a:r>
            <a:r>
              <a:rPr lang="fr">
                <a:solidFill>
                  <a:schemeClr val="dk1"/>
                </a:solidFill>
              </a:rPr>
              <a:t> Former les managers aux "Stay Interviews" (entretiens de rétention) dès que le score d'engagement d'une équipe fléchit, sans attendre l'entretien annuel.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ESN TechNova Partners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Recherche d’explication de l’attrition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5200"/>
              <a:t>Les données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Sources de données</a:t>
            </a:r>
            <a:endParaRPr/>
          </a:p>
        </p:txBody>
      </p:sp>
      <p:sp>
        <p:nvSpPr>
          <p:cNvPr id="98" name="Google Shape;98;p15"/>
          <p:cNvSpPr txBox="1"/>
          <p:nvPr>
            <p:ph idx="1" type="body"/>
          </p:nvPr>
        </p:nvSpPr>
        <p:spPr>
          <a:xfrm>
            <a:off x="1095125" y="2027900"/>
            <a:ext cx="7239600" cy="24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" sz="1400"/>
              <a:t>Croisement de données de </a:t>
            </a:r>
            <a:r>
              <a:rPr lang="fr" sz="1400"/>
              <a:t>3 fichiers: </a:t>
            </a:r>
            <a:endParaRPr sz="1400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 sz="1400"/>
              <a:t>Fichier</a:t>
            </a:r>
            <a:r>
              <a:rPr lang="fr" sz="1400"/>
              <a:t> SIRH</a:t>
            </a:r>
            <a:endParaRPr sz="1400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 sz="1400"/>
              <a:t>Fichier SI des évaluations annuelles de performance (satisfaction, note, augmentation du salaire)</a:t>
            </a:r>
            <a:endParaRPr sz="1400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 sz="1400"/>
              <a:t>Fichier issu d’un sondage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" sz="1400"/>
              <a:t>Jointure des trois tables via id_employé, eval_number et code_sondage</a:t>
            </a:r>
            <a:endParaRPr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6"/>
          <p:cNvPicPr preferRelativeResize="0"/>
          <p:nvPr/>
        </p:nvPicPr>
        <p:blipFill rotWithShape="1">
          <a:blip r:embed="rId3">
            <a:alphaModFix/>
          </a:blip>
          <a:srcRect b="0" l="0" r="-887" t="0"/>
          <a:stretch/>
        </p:blipFill>
        <p:spPr>
          <a:xfrm>
            <a:off x="0" y="0"/>
            <a:ext cx="923345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>
            <p:ph type="title"/>
          </p:nvPr>
        </p:nvSpPr>
        <p:spPr>
          <a:xfrm>
            <a:off x="802950" y="1343400"/>
            <a:ext cx="7185300" cy="14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Analyse exploratoire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800" y="1089300"/>
            <a:ext cx="7756375" cy="387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8"/>
          <p:cNvSpPr txBox="1"/>
          <p:nvPr/>
        </p:nvSpPr>
        <p:spPr>
          <a:xfrm>
            <a:off x="92588" y="474800"/>
            <a:ext cx="8830800" cy="4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Disparités entre les domaine d’étude?</a:t>
            </a:r>
            <a:endParaRPr b="1" sz="2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9"/>
          <p:cNvPicPr preferRelativeResize="0"/>
          <p:nvPr/>
        </p:nvPicPr>
        <p:blipFill rotWithShape="1">
          <a:blip r:embed="rId3">
            <a:alphaModFix/>
          </a:blip>
          <a:srcRect b="0" l="530" r="-529" t="0"/>
          <a:stretch/>
        </p:blipFill>
        <p:spPr>
          <a:xfrm>
            <a:off x="509575" y="696925"/>
            <a:ext cx="7996950" cy="44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9"/>
          <p:cNvSpPr txBox="1"/>
          <p:nvPr/>
        </p:nvSpPr>
        <p:spPr>
          <a:xfrm>
            <a:off x="290425" y="138050"/>
            <a:ext cx="8216100" cy="4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La variabilité de l’augmentation de salaire peut créer des tesnsions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025" y="777850"/>
            <a:ext cx="7434225" cy="3987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0"/>
          <p:cNvSpPr txBox="1"/>
          <p:nvPr/>
        </p:nvSpPr>
        <p:spPr>
          <a:xfrm>
            <a:off x="431000" y="138050"/>
            <a:ext cx="8064600" cy="4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Les déplacements perturbent la vie des employés, est-ce un facteur de démission?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1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Encodage et Filtrage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 txBox="1"/>
          <p:nvPr>
            <p:ph type="title"/>
          </p:nvPr>
        </p:nvSpPr>
        <p:spPr>
          <a:xfrm>
            <a:off x="168350" y="542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Encodage et filtrage via matrice de corrélation</a:t>
            </a:r>
            <a:endParaRPr/>
          </a:p>
        </p:txBody>
      </p:sp>
      <p:sp>
        <p:nvSpPr>
          <p:cNvPr id="137" name="Google Shape;137;p22"/>
          <p:cNvSpPr txBox="1"/>
          <p:nvPr>
            <p:ph idx="1" type="body"/>
          </p:nvPr>
        </p:nvSpPr>
        <p:spPr>
          <a:xfrm>
            <a:off x="729450" y="1821700"/>
            <a:ext cx="7688700" cy="25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" sz="1400"/>
              <a:t>Les variables à encoder :   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 sz="1400"/>
              <a:t>frequence_deplacement (</a:t>
            </a:r>
            <a:r>
              <a:rPr lang="fr" sz="1400"/>
              <a:t>Ordinale)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 sz="1400"/>
              <a:t>domaine_etude, departement, statut_marital, poste (Non Ordinales)</a:t>
            </a:r>
            <a:endParaRPr sz="14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fr" sz="1400"/>
              <a:t>Plusieurs matrices de corrélations ont été réalisées afin de supprimer les features trop corrélées (&gt;85)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    	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Modélisation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525" y="0"/>
            <a:ext cx="8762350" cy="499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425" y="136888"/>
            <a:ext cx="7359751" cy="486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/>
          <p:nvPr>
            <p:ph type="title"/>
          </p:nvPr>
        </p:nvSpPr>
        <p:spPr>
          <a:xfrm>
            <a:off x="777025" y="1359850"/>
            <a:ext cx="7654800" cy="115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Evaluation</a:t>
            </a:r>
            <a:r>
              <a:rPr lang="fr"/>
              <a:t> et Optimisation du modèle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7"/>
          <p:cNvSpPr txBox="1"/>
          <p:nvPr>
            <p:ph type="title"/>
          </p:nvPr>
        </p:nvSpPr>
        <p:spPr>
          <a:xfrm>
            <a:off x="729450" y="5395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Modèles créés et testés</a:t>
            </a:r>
            <a:endParaRPr/>
          </a:p>
        </p:txBody>
      </p:sp>
      <p:sp>
        <p:nvSpPr>
          <p:cNvPr id="163" name="Google Shape;163;p27"/>
          <p:cNvSpPr txBox="1"/>
          <p:nvPr>
            <p:ph idx="1" type="body"/>
          </p:nvPr>
        </p:nvSpPr>
        <p:spPr>
          <a:xfrm>
            <a:off x="687375" y="1699725"/>
            <a:ext cx="7688700" cy="252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" sz="1400"/>
              <a:t>4 modèles testés: 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 sz="1400"/>
              <a:t>modèle Dummy (étalon)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 sz="1400"/>
              <a:t>Régression logistique (linéaire)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 sz="1400"/>
              <a:t>RandomForest (arbres de décision)</a:t>
            </a:r>
            <a:endParaRPr sz="1400"/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 sz="1400"/>
              <a:t>SVM (autre modèle non-linéaire)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" sz="1400"/>
              <a:t>On équilibre les classes pour améliorer la performance des modèles puis on recherche les scores captant le plus de départ (quitte à sacrifier la précision)</a:t>
            </a:r>
            <a:endParaRPr sz="1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325" y="1685925"/>
            <a:ext cx="8839200" cy="291802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8"/>
          <p:cNvSpPr txBox="1"/>
          <p:nvPr/>
        </p:nvSpPr>
        <p:spPr>
          <a:xfrm>
            <a:off x="393450" y="579250"/>
            <a:ext cx="83571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Validation Croisée sur le modèle initial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00" y="0"/>
            <a:ext cx="8968700" cy="4947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575" y="101900"/>
            <a:ext cx="7172274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175" y="165650"/>
            <a:ext cx="8517649" cy="467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6300" y="58875"/>
            <a:ext cx="7865925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/>
          <p:nvPr/>
        </p:nvSpPr>
        <p:spPr>
          <a:xfrm>
            <a:off x="480050" y="108075"/>
            <a:ext cx="8250300" cy="39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Waterfall Plot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95" name="Google Shape;19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188" y="596050"/>
            <a:ext cx="8255626" cy="433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4"/>
          <p:cNvSpPr txBox="1"/>
          <p:nvPr/>
        </p:nvSpPr>
        <p:spPr>
          <a:xfrm>
            <a:off x="734075" y="633050"/>
            <a:ext cx="78288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01" name="Google Shape;201;p34"/>
          <p:cNvSpPr txBox="1"/>
          <p:nvPr>
            <p:ph type="title"/>
          </p:nvPr>
        </p:nvSpPr>
        <p:spPr>
          <a:xfrm>
            <a:off x="729450" y="639050"/>
            <a:ext cx="7688700" cy="4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/>
              <a:t>Conclusions et Recommandations</a:t>
            </a:r>
            <a:endParaRPr/>
          </a:p>
        </p:txBody>
      </p:sp>
      <p:sp>
        <p:nvSpPr>
          <p:cNvPr id="202" name="Google Shape;202;p34"/>
          <p:cNvSpPr txBox="1"/>
          <p:nvPr>
            <p:ph idx="1" type="body"/>
          </p:nvPr>
        </p:nvSpPr>
        <p:spPr>
          <a:xfrm>
            <a:off x="727650" y="1569125"/>
            <a:ext cx="7688700" cy="21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fr" sz="1500">
                <a:solidFill>
                  <a:schemeClr val="dk2"/>
                </a:solidFill>
              </a:rPr>
              <a:t>1. Politique de Rémunération mieux ciblée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fr" sz="1500">
                <a:solidFill>
                  <a:schemeClr val="dk2"/>
                </a:solidFill>
              </a:rPr>
              <a:t>2. Gestion de la Charge et "Droit à la Déconnexion"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fr" sz="1500">
                <a:solidFill>
                  <a:schemeClr val="dk2"/>
                </a:solidFill>
              </a:rPr>
              <a:t>3. Mieux suivre les parcours de Carrières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fr" sz="1500">
                <a:solidFill>
                  <a:schemeClr val="dk2"/>
                </a:solidFill>
              </a:rPr>
              <a:t>4. Sondages plus récurrents pour améliorer l’engagement et détecter les signaux faibles </a:t>
            </a:r>
            <a:endParaRPr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